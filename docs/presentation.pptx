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C39A"/>
                </a:solidFill>
              </a:rPr>
              <a:t>AI IN PRACTICE  ·  KYUNG HEE UNIV.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Pneumonia Detection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Generalization and Domain Shift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423160"/>
            <a:ext cx="16459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Team 우리팀  ·  </a:t>
            </a:r>
            <a:pPr indent="0" marL="0">
              <a:buNone/>
            </a:pPr>
            <a:r>
              <a:rPr lang="en-US" sz="1400" dirty="0">
                <a:solidFill>
                  <a:srgbClr val="A0C4D8"/>
                </a:solidFill>
              </a:rPr>
              <a:t>정희승 · 강우혁 · 조민규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108960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0D2B44"/>
          </a:solidFill>
          <a:ln w="12700">
            <a:solidFill>
              <a:srgbClr val="1C4E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3108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D4"/>
                </a:solidFill>
              </a:rPr>
              <a:t>Kaggle Chest X-ray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3108960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0D2B44"/>
          </a:solidFill>
          <a:ln w="12700">
            <a:solidFill>
              <a:srgbClr val="1C4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3108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D4"/>
                </a:solidFill>
              </a:rPr>
              <a:t>RSNA Pneumonia Challenge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2"/>
                </a:solidFill>
              </a:rPr>
              <a:t>2026.06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Detection from Chest X-rays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12064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53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🫁  Clinical Need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Pneumonia is a leading cause of death worldwide. Chest X-ray is the fastest, most accessible diagnostic tool — but interpretation requires expert radiologists.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512064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468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⚠️  Domain Shift Challenge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Models trained on one hospital's X-rays often fail on data from another. Scanner settings, patient demographics, and labeling standards all differ.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512064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5844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🎯  Our Goal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8587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Train on Kaggle Chest X-ray dataset (internal), evaluate on RSNA Pneumonia Challenge (external) — measuring how well the model truly generalizes.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1280160"/>
            <a:ext cx="278892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3533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2.5M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35040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Deaths/year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pneumonia (WHO)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2788920" cy="9875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2468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0.99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035040" y="2962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Internal AUC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(Kaggle)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3511296"/>
            <a:ext cx="2788920" cy="987552"/>
          </a:xfrm>
          <a:prstGeom prst="rect">
            <a:avLst/>
          </a:prstGeom>
          <a:solidFill>
            <a:srgbClr val="FFF1F1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358444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</a:rPr>
              <a:t>0.78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035040" y="40782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External AUC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(RSNA)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Chest X-ray Datasets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INTERNAL  ·  Kaggle Chest X-ray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images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5,216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Classes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NORMAL / PNEUMONIA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Train NORMAL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1,073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Train PNEUMONIA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3,092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 NORMAL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268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 PNEUMONIA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783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Test images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624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Training + Validation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280160"/>
            <a:ext cx="3931920" cy="329184"/>
          </a:xfrm>
          <a:prstGeom prst="rect">
            <a:avLst/>
          </a:prstGeom>
          <a:solidFill>
            <a:srgbClr val="1C5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280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EXTERNAL  ·  RSNA Pneumonia Challenge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images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26,684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Classes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Normal / Lung Opacity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Eval sample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2,000 (1K × 2 classes)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Format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DICOM → PNG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9472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Image size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6656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224 × 224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19472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Threshold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6656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Youden's J (from Kaggle)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947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Threshold tuning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None (fixed from internal)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19472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6656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External Validation ONLY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★  RSNA data was never used for training — only for external validation to measure generalization.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METHODS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Compared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502920" cy="1078992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Baseline CNN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Custom 4-block CNN (Conv→BN→ReLU→Pool)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3350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4× Conv blocks (32→64→128→256 filters)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5727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Global Average Pooling + Dropout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8105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BCE loss, Adam optimizer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0482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Trained from scratch on Kaggle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8229600" cy="1078992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50592"/>
            <a:ext cx="502920" cy="1078992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163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523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ResNet50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2816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Transfer learning from ImageNet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5054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ResNet-50 pretrained backbone (frozen early layers)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7432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Custom classification head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9809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BCE loss, lr = 1e-4, batch = 32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2186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10 epochs on Kaggle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21024"/>
            <a:ext cx="8229600" cy="107899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21024"/>
            <a:ext cx="50292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867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TorchXRayVision ★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3986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DenseNet-121  ·  densenet121-res224-chex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6758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Pretrained on 7 large chest X-ray datasets (CheXpert, etc.)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9136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Medical domain pretraining — learns chest pathology features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41513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Focal loss (α=0.25, γ=2) for class imbalance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43891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Best external generalization of the three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METHODS · TORCHXRAYVISION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Model: TorchXRayVision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167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X-ray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5EE"/>
                </a:solidFill>
              </a:rPr>
              <a:t>PNG / DICOM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83664" y="1664208"/>
            <a:ext cx="2331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2043684" y="1591056"/>
            <a:ext cx="128016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71700" y="1261872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1C5E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71700" y="13167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Lung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71700" y="1810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5EE"/>
                </a:solidFill>
              </a:rPr>
              <a:t>Preprocessing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98164" y="1664208"/>
            <a:ext cx="2331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3758184" y="1591056"/>
            <a:ext cx="128016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1261872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1A7AA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86200" y="13167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Resize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Normalize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6200" y="1810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5EE"/>
                </a:solidFill>
              </a:rPr>
              <a:t>224×224 · μ=0.5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12664" y="1664208"/>
            <a:ext cx="2331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5472684" y="1591056"/>
            <a:ext cx="128016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00700" y="1261872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00700" y="13167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DenseNet121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Backbone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00700" y="1810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5EE"/>
                </a:solidFill>
              </a:rPr>
              <a:t>CheXpert pretrained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27164" y="1664208"/>
            <a:ext cx="2331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7187184" y="1591056"/>
            <a:ext cx="128016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261872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0" y="13167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FC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Sigmoid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1810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5EE"/>
                </a:solidFill>
              </a:rPr>
              <a:t>P(Pneumonia)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2267712"/>
            <a:ext cx="5212080" cy="2596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" y="237744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DenseNet-121 Architecture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" y="27614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</a:rPr>
              <a:t>Backbone: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47088" y="27614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DenseNet-121  ·  121 layers  ·  6.97M parameters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3504" y="30998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</a:rPr>
              <a:t>Pretrained: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847088" y="309981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CheXpert 14-disease CXR dataset (NIH / Stanford)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3504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</a:rPr>
              <a:t>Input: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847088" y="343814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224 × 224 grayscale → 3-channel replicated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3504" y="37764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</a:rPr>
              <a:t>Feature map: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47088" y="37764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7 × 7 × 1024  →  Global Average Pooling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3504" y="4114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</a:rPr>
              <a:t>Output head: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847088" y="41148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FC(1024→1)  →  Sigmoid  →  P(Pneumonia) ∈ [0, 1]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3504" y="4453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</a:rPr>
              <a:t>Fine-tuning: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847088" y="44531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Full network  ·  lr = 1e-4  ·  10 epochs  ·  BCE / Focal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33872" y="2267712"/>
            <a:ext cx="2852928" cy="2596896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980176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Why TorchXRayVision?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98464" y="288036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81344" y="279806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Pretrained on 100K+ CXR images — domain-aligned features from day one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98464" y="3410712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81344" y="3328416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Handles grayscale CXR natively; no RGB conversion artifacts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998464" y="3941064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81344" y="3858768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CheXpert weights encode pulmonary anatomy, not ImageNet textures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98464" y="4471416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81344" y="4389120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Best external AUC (+0.12 vs Baseline CNN) without any RSNA training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4937760"/>
            <a:ext cx="8229600" cy="210312"/>
          </a:xfrm>
          <a:prstGeom prst="rect">
            <a:avLst/>
          </a:prstGeom>
          <a:solidFill>
            <a:srgbClr val="EDE9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" y="4937760"/>
            <a:ext cx="7936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21B6"/>
                </a:solidFill>
              </a:rPr>
              <a:t>Weight used: densenet121-res224-chex  ·  RSNA / all weights excluded  ·  RSNA data used ONLY for external validation, never for training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METHODS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Lung-Region Cropping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447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X-ray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5EE"/>
                </a:solidFill>
              </a:rPr>
              <a:t>PNG / DICOM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83664" y="1783080"/>
            <a:ext cx="2331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2043684" y="1709928"/>
            <a:ext cx="128016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7170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C5E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71700" y="14447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Otsu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Threshold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71700" y="1920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5EE"/>
                </a:solidFill>
              </a:rPr>
              <a:t>Binarize lung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98164" y="1783080"/>
            <a:ext cx="2331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3758184" y="1709928"/>
            <a:ext cx="128016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A7AA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86200" y="14447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Bounding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6200" y="1920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5EE"/>
                </a:solidFill>
              </a:rPr>
              <a:t>Find lung ROI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12664" y="1783080"/>
            <a:ext cx="2331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5472684" y="1709928"/>
            <a:ext cx="128016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0070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899C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00700" y="14447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Crop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Resize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00700" y="1920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5EE"/>
                </a:solidFill>
              </a:rPr>
              <a:t>224 × 224 px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27164" y="1783080"/>
            <a:ext cx="2331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7187184" y="1709928"/>
            <a:ext cx="128016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0" y="14447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1920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5EE"/>
                </a:solidFill>
              </a:rPr>
              <a:t>Normalized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2697480" cy="2377440"/>
          </a:xfrm>
          <a:prstGeom prst="rect">
            <a:avLst/>
          </a:prstGeom>
          <a:solidFill>
            <a:srgbClr val="FFF1F1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5216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❌  Without Cropping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5216" y="2907792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Scanner bed, labels, and background noise enter the model. Different hospitals have different non-lung artifacts → dataset-specific texture bias.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55848" y="2468880"/>
            <a:ext cx="2697480" cy="23774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83864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  With Cropping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83864" y="2907792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Lung region is isolated. Background artifacts are removed. The model learns to focus on pulmonary pathology, not scanner-specific noise.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54496" y="2468880"/>
            <a:ext cx="2697480" cy="2377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82512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→  Domain Shift Effect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82512" y="2907792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Crop preprocessing narrows the distribution gap between Kaggle and RSNA images, improving external generalization without any RSNA training data.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Threshold fixed from Kaggle validation set (Youden's J) — not re-tuned on RSNA to measure pure generalization.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Internal vs. External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65A82"/>
                </a:solidFill>
              </a:rPr>
              <a:t>INTERNAL  (Kaggle val)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49240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F4444"/>
                </a:solidFill>
              </a:rPr>
              <a:t>EXTERNAL  (RSNA)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6459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57276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572768"/>
            <a:ext cx="8046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9696" y="15727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07792" y="1572768"/>
            <a:ext cx="8046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15727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12464" y="1572768"/>
            <a:ext cx="8046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5727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17136" y="1572768"/>
            <a:ext cx="80467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5727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21808" y="1572768"/>
            <a:ext cx="804672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5727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572768"/>
            <a:ext cx="804672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5727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31152" y="1572768"/>
            <a:ext cx="804672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15727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Recall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35824" y="1572768"/>
            <a:ext cx="804672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15727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Prec.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1874520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187452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Baseline CNN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03120" y="1874520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39696" y="18745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0.9613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07792" y="1874520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44368" y="18745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0.9393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12464" y="1874520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18745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0.9183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17136" y="1874520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18745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0.9612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21808" y="1874520"/>
            <a:ext cx="804672" cy="402336"/>
          </a:xfrm>
          <a:prstGeom prst="rect">
            <a:avLst/>
          </a:prstGeom>
          <a:solidFill>
            <a:srgbClr val="FFF1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58384" y="18745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0.6402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1874520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18745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0.6642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31152" y="1874520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18745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0.9700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35824" y="1874520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18745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0.5049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2313432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231343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ResNet50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103120" y="2313432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39696" y="2313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0.9983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07792" y="2313432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44368" y="2313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0.9872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12464" y="2313432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2313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0.9821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17136" y="2313432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53712" y="2313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0.9923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21808" y="2313432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58384" y="2313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0.7710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26480" y="2313432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63056" y="2313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0.7165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31152" y="2313432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67728" y="2313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0.9690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735824" y="2313432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72400" y="2313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0.5683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2752344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" y="2752344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TXV (no crop)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103120" y="2752344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39696" y="275234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0.9968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907792" y="2752344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44368" y="275234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0.9840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712464" y="2752344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49040" y="275234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0.9808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17136" y="2752344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53712" y="275234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0.9871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321808" y="2752344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58384" y="275234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0.7833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126480" y="2752344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63056" y="275234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0.7468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931152" y="2752344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67728" y="275234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0.9380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735824" y="2752344"/>
            <a:ext cx="8046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72400" y="275234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0.6204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7200" y="3191256"/>
            <a:ext cx="164592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6928" y="319125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TXV + Crop+Focal ★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103120" y="3191256"/>
            <a:ext cx="804672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139696" y="31912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0.9971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2907792" y="3191256"/>
            <a:ext cx="804672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44368" y="31912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0.9848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712464" y="3191256"/>
            <a:ext cx="804672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749040" y="31912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0.9821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517136" y="3191256"/>
            <a:ext cx="804672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53712" y="31912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0.9875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321808" y="3191256"/>
            <a:ext cx="804672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58384" y="31912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0.8195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126480" y="3191256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63056" y="31912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0.7823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931152" y="3191256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67728" y="31912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0.9220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7735824" y="3191256"/>
            <a:ext cx="8046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772400" y="31912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0.6794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321808" y="1280160"/>
            <a:ext cx="36576" cy="23500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57200" y="3913632"/>
            <a:ext cx="822960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94360" y="39136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✓  Lung-region crop preprocessing: RSNA AUC  0.7833 → 0.8195  (+0.036)  ·  Primary driver of domain shift reduction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9436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⚠  Domain Shift confirmed — all models show AUC drop of 0.21–0.32 on external RSNA data.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ABLATION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(1/4): Decision Threshold Policies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34440"/>
            <a:ext cx="484632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344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does the threshold matter?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591056"/>
            <a:ext cx="4846320" cy="7315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6459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 binary classifier outputs P(Pneumonia) ∈ [0, 1]. Applying a threshold τ converts it to a class label.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Different τ values trade off Sensitivity (TPR) vs. Specificity (TNR) differently.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414016"/>
            <a:ext cx="4846320" cy="100584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4871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</a:rPr>
              <a:t>Our method: Youden's J Statistic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7614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0764"/>
                </a:solidFill>
              </a:rPr>
              <a:t>J  =  Sensitivity  +  Specificity  −  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4048" y="3529584"/>
            <a:ext cx="48463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56616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Setup: τ* = arg max J  on Kaggle val set  →  applied to RSNA as-is (no re-tuning)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This measures pure cross-dataset generalization — not RSNA-optimized performance.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76672" y="1234440"/>
            <a:ext cx="338328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12344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Policies Compared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76672" y="1645920"/>
            <a:ext cx="3383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76672" y="1645920"/>
            <a:ext cx="82296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645920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Fixed 0.5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272784" y="1755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Standard default — no optimization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76672" y="2249424"/>
            <a:ext cx="3383280" cy="530352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2249424"/>
            <a:ext cx="82296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249424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Youden's J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272784" y="2359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1B6"/>
                </a:solidFill>
              </a:rPr>
              <a:t>Maximize Sens + Spec − 1  (our choice)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76672" y="2852928"/>
            <a:ext cx="3383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76672" y="2852928"/>
            <a:ext cx="82296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852928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F1-max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72784" y="29626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Maximize F1-score on Kaggle val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76672" y="3456432"/>
            <a:ext cx="3383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76672" y="3456432"/>
            <a:ext cx="82296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3456432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Recall ≥ 0.90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72784" y="35661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Enforce minimum sensitivity constraint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76672" y="4059936"/>
            <a:ext cx="33832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76672" y="4059936"/>
            <a:ext cx="82296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4059936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Recall ≥ 0.95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72784" y="41696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High-sensitivity clinical constraint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ABLATION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(2/4): Threshold Policy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2618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TXV external F1  (RSNA, 5 threshold policies)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572768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Fixed 0.5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92224" y="1645920"/>
            <a:ext cx="34747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2224" y="1645920"/>
            <a:ext cx="1737360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5727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0.730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103120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21B6"/>
                </a:solidFill>
              </a:rPr>
              <a:t>Youden's J ★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92224" y="2176272"/>
            <a:ext cx="34747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92224" y="2176272"/>
            <a:ext cx="232806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5150" y="21031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0.747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2633472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F1-max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92224" y="2706624"/>
            <a:ext cx="34747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92224" y="2706624"/>
            <a:ext cx="2467051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4139" y="26334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0.751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163824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Recall ≥ 0.90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92224" y="3236976"/>
            <a:ext cx="34747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92224" y="3236976"/>
            <a:ext cx="1598371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5459" y="31638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0.726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694176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Recall ≥ 0.95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4" y="3767328"/>
            <a:ext cx="34747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92224" y="3767328"/>
            <a:ext cx="1042416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36941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0.710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92224" y="1527048"/>
            <a:ext cx="0" cy="2880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422452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0.68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834640" y="1527048"/>
            <a:ext cx="0" cy="2880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0048" y="422452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0.71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77056" y="1527048"/>
            <a:ext cx="0" cy="2880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12464" y="422452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0.74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19472" y="1527048"/>
            <a:ext cx="0" cy="2880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22452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0.77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792224" y="4462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F1-score (RSNA external)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4048" y="4663440"/>
            <a:ext cx="512064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663440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21B6"/>
                </a:solidFill>
              </a:rPr>
              <a:t>AUC = 0.7833 for all policies (threshold-independent metric)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0" y="1234440"/>
            <a:ext cx="3090672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97296" y="12344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Finding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0" y="1591056"/>
            <a:ext cx="3090672" cy="10972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15584" y="1664208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ΔF1 across 5 policies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15584" y="192024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≤ 0.05</a:t>
            </a:r>
            <a:endParaRPr lang="en-US" sz="3600" dirty="0"/>
          </a:p>
        </p:txBody>
      </p:sp>
      <p:sp>
        <p:nvSpPr>
          <p:cNvPr id="42" name="Shape 40"/>
          <p:cNvSpPr/>
          <p:nvPr/>
        </p:nvSpPr>
        <p:spPr>
          <a:xfrm>
            <a:off x="5742432" y="2926080"/>
            <a:ext cx="118872" cy="1188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2798064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Threshold policy has minimal impact on external F1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42432" y="3474720"/>
            <a:ext cx="118872" cy="118872"/>
          </a:xfrm>
          <a:prstGeom prst="ellipse">
            <a:avLst/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25312" y="3346704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</a:rPr>
              <a:t>Better calibration CANNOT compensate for distribution shift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742432" y="4023360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25312" y="3895344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Domain shift = representation gap, not calibration gap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742432" y="4572000"/>
            <a:ext cx="118872" cy="118872"/>
          </a:xfrm>
          <a:prstGeom prst="ellipse">
            <a:avLst/>
          </a:prstGeom>
          <a:solidFill>
            <a:srgbClr val="1665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25312" y="4443984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</a:rPr>
              <a:t>→ The model needs to learn better features, not better thresholds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ABLATION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(3/4): BCE vs. Focal Loss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34440"/>
            <a:ext cx="411480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344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BCE  (Binary Cross-Entropy)  — Baseline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591056"/>
            <a:ext cx="41148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664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L  =  −[ y log(p)  +  (1−y) log(1−p) 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2304288"/>
            <a:ext cx="411480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Limitation with class imbalance: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5786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BCE treats all samples equally — easy negatives dominate the gradient and overwhelm the signal from hard, rare positive cases.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3127248"/>
            <a:ext cx="411480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1272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Kaggle dataset: NORMAL 1,341  vs.  PNEUMONIA 3,875  (2.9× imbalance)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1234440"/>
            <a:ext cx="411480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12344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Focal Loss  (Lin et al., RetinaNet 2017)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5152" y="1591056"/>
            <a:ext cx="4114800" cy="8961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6824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FL(p_t)  =  −α (1 − p_t)^γ  log(p_t)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91456" y="2121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</a:rPr>
              <a:t>α = 0.25  ·  γ = 2.0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45152" y="2596896"/>
            <a:ext cx="950976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596896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(1−p_t)^γ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265176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Modulating factor — down-weights easy examples exponentially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45152" y="3108960"/>
            <a:ext cx="950976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108960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γ = 2.0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0" y="3163824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Easy example (p=0.9): weight × 0.01 → virtually ignored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45152" y="3621024"/>
            <a:ext cx="950976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621024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α = 0.25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0" y="3675888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Class weight: balances gradient from positive/negative samples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4279392"/>
            <a:ext cx="8375904" cy="54864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334256"/>
            <a:ext cx="8083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BCE: each sample counts equally  ↔  Focal: hard examples count more  ·  Focal adds modulating term (1−p_t)^γ to re-weight the gradient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ABLATION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(4/4): Loss Function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C:/Users/lavaskiller/Desktop/Python Workspace/aip_project/figures/performance/preprocess_crop_focal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34440"/>
            <a:ext cx="530352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70448" y="1234440"/>
            <a:ext cx="2889504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98464" y="123444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TXV  ·  RSNA External AUC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70448" y="1591056"/>
            <a:ext cx="95097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07024" y="1591056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21424" y="1591056"/>
            <a:ext cx="859536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159105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BCE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680960" y="1591056"/>
            <a:ext cx="1078992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17536" y="1591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Focal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70448" y="1901952"/>
            <a:ext cx="95097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07024" y="1901952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21B6"/>
                </a:solidFill>
              </a:rPr>
              <a:t>No Crop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21424" y="1901952"/>
            <a:ext cx="8595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1901952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0.7833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80960" y="1901952"/>
            <a:ext cx="107899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17536" y="19019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21B6"/>
                </a:solidFill>
              </a:rPr>
              <a:t>0.796*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70448" y="2359152"/>
            <a:ext cx="95097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07024" y="2359152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21B6"/>
                </a:solidFill>
              </a:rPr>
              <a:t>Crop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21424" y="2359152"/>
            <a:ext cx="859536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2359152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0.811*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680960" y="2359152"/>
            <a:ext cx="1078992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17536" y="23591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0.8195★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70448" y="2798064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* estimated from figure  ·  ★ confirmed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870448" y="3054096"/>
            <a:ext cx="288950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98464" y="305409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43600" y="3529584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26480" y="34015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Focal marginally improves AUC (+0.01~0.02)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943600" y="40416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26480" y="391363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Crop preprocessing is the primary driver of improvement (+0.03)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943600" y="4553712"/>
            <a:ext cx="109728" cy="10972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26480" y="442569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Both crop AND focal together give the best result: AUC 0.8195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943600" y="5065776"/>
            <a:ext cx="109728" cy="10972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26480" y="49377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Domain shift reduced but not fully closed → representation gap remains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ABLATION STUDY · GRAD-CAM VISUALIZATION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Attention: Internal (Kaggle)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11480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True Positive  (TP)</a:t>
            </a:r>
            <a:endParaRPr lang="en-US" sz="1000" dirty="0"/>
          </a:p>
        </p:txBody>
      </p:sp>
      <p:pic>
        <p:nvPicPr>
          <p:cNvPr id="7" name="Image 0" descr="C:/Users/lavaskiller/Desktop/Python Workspace/aip_project/figures/gradcam/kaggle_tp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6192"/>
            <a:ext cx="4114800" cy="146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1280160"/>
            <a:ext cx="411480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True Negative  (TN)</a:t>
            </a:r>
            <a:endParaRPr lang="en-US" sz="1000" dirty="0"/>
          </a:p>
        </p:txBody>
      </p:sp>
      <p:pic>
        <p:nvPicPr>
          <p:cNvPr id="10" name="Image 1" descr="C:/Users/lavaskiller/Desktop/Python Workspace/aip_project/figures/gradcam/kaggle_tn_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36192"/>
            <a:ext cx="4114800" cy="1463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3108960"/>
            <a:ext cx="41148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False Positive  (FP)</a:t>
            </a:r>
            <a:endParaRPr lang="en-US" sz="1000" dirty="0"/>
          </a:p>
        </p:txBody>
      </p:sp>
      <p:pic>
        <p:nvPicPr>
          <p:cNvPr id="13" name="Image 2" descr="C:/Users/lavaskiller/Desktop/Python Workspace/aip_project/figures/gradcam/kaggle_fp_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64992"/>
            <a:ext cx="411480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00600" y="3108960"/>
            <a:ext cx="411480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89204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False Negative  (FN)</a:t>
            </a:r>
            <a:endParaRPr lang="en-US" sz="1000" dirty="0"/>
          </a:p>
        </p:txBody>
      </p:sp>
      <p:pic>
        <p:nvPicPr>
          <p:cNvPr id="16" name="Image 3" descr="C:/Users/lavaskiller/Desktop/Python Workspace/aip_project/figures/gradcam/kaggle_fn_pan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364992"/>
            <a:ext cx="4114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ABLATION STUDY · GRAD-CAM VISUALIZATION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Attention: External (RSNA)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11480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True Positive  (TP)</a:t>
            </a:r>
            <a:endParaRPr lang="en-US" sz="1000" dirty="0"/>
          </a:p>
        </p:txBody>
      </p:sp>
      <p:pic>
        <p:nvPicPr>
          <p:cNvPr id="7" name="Image 0" descr="C:/Users/lavaskiller/Desktop/Python Workspace/aip_project/figures/gradcam/rsna_tp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6192"/>
            <a:ext cx="4114800" cy="146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1280160"/>
            <a:ext cx="411480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True Negative  (TN)</a:t>
            </a:r>
            <a:endParaRPr lang="en-US" sz="1000" dirty="0"/>
          </a:p>
        </p:txBody>
      </p:sp>
      <p:pic>
        <p:nvPicPr>
          <p:cNvPr id="10" name="Image 1" descr="C:/Users/lavaskiller/Desktop/Python Workspace/aip_project/figures/gradcam/rsna_tn_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36192"/>
            <a:ext cx="4114800" cy="1463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3108960"/>
            <a:ext cx="41148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False Positive  (FP)</a:t>
            </a:r>
            <a:endParaRPr lang="en-US" sz="1000" dirty="0"/>
          </a:p>
        </p:txBody>
      </p:sp>
      <p:pic>
        <p:nvPicPr>
          <p:cNvPr id="13" name="Image 2" descr="C:/Users/lavaskiller/Desktop/Python Workspace/aip_project/figures/gradcam/rsna_fp_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64992"/>
            <a:ext cx="411480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00600" y="3108960"/>
            <a:ext cx="411480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89204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False Negative  (FN)</a:t>
            </a:r>
            <a:endParaRPr lang="en-US" sz="1000" dirty="0"/>
          </a:p>
        </p:txBody>
      </p:sp>
      <p:pic>
        <p:nvPicPr>
          <p:cNvPr id="16" name="Image 3" descr="C:/Users/lavaskiller/Desktop/Python Workspace/aip_project/figures/gradcam/rsna_fn_pan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364992"/>
            <a:ext cx="4114800" cy="1463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FP analysis: on RSNA, the model often activates on non-lung regions — evidence of texture bias acquired from Kaggle-specific artifacts.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Future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1371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45920"/>
            <a:ext cx="274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62763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E8"/>
                </a:solidFill>
              </a:rPr>
              <a:t>TorchXRayVision (medical pretraining) achieves the best external AUC of 0.783 — outperforming Baseline CNN (0.640) and ResNet50 (0.771).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274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2677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E8"/>
                </a:solidFill>
              </a:rPr>
              <a:t>Domain shift is confirmed: all models drop 0.21–0.32 AUC. Threshold policies alone cannot compensate (ΔF1 ≤ 0.05) — it is a representation problem.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926080"/>
            <a:ext cx="274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90779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E8"/>
                </a:solidFill>
              </a:rPr>
              <a:t>Crop preprocessing reduces domain shift by removing scanner-specific background artifacts. Largest single improvement factor.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274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5478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E8"/>
                </a:solidFill>
              </a:rPr>
              <a:t>Grad-CAM confirms FP cases activate on non-lung regions on RSNA — dataset-specific texture bias from Kaggle training.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Future 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517136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8D4"/>
                </a:solidFill>
              </a:rPr>
              <a:t>Multi-center training  ·  Stain / scanner normalization  ·  RSNA joint fine-tuning  ·  Confidence calibration  ·  Larger backbone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TEAM 우리팀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6974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정희승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F5EE"/>
                </a:solidFill>
              </a:rPr>
              <a:t>Project Lead · Model Dev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97480" cy="3108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5216" y="1929384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87452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TorchXRayVision 도입 및 학습 설계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" y="2478024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42316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다중 임계값 평가 프레임워크 설계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" y="3026664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97180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Focal Loss 실험 설계 (α=0.25, γ=2.0)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" y="3575304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52044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Domain Shift 원인 분석 (표현 문제)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" y="4123944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06908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발표 담당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55848" y="123444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65576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강우혁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465576" y="15087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F5EE"/>
                </a:solidFill>
              </a:rPr>
              <a:t>Evaluation · Presentation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55848" y="1691640"/>
            <a:ext cx="2697480" cy="31089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83864" y="192938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187452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다중 임계값 평가 실행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83864" y="247802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5032" y="242316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핵심 발견: AUC 하락 = 표현 문제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83864" y="302666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297180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Proposal 보고서 편집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83864" y="357530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5032" y="352044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발표자료 제작 (PPT)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54496" y="1234440"/>
            <a:ext cx="26974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64224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조민규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364224" y="15087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F5EE"/>
                </a:solidFill>
              </a:rPr>
              <a:t>Data · Baseline Implementation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54496" y="1691640"/>
            <a:ext cx="2697480" cy="310896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82512" y="192938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187452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Kaggle·RSNA 데이터 준비 (Seraph)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82512" y="247802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42316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데이터 분할 스크립트 작성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82512" y="302666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297180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Baseline CNN · ResNet50 구현 및 학습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82512" y="357530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52044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외부 평가 (RSNA) 실험 실행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82512" y="412394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4069080"/>
            <a:ext cx="2267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Grad-CAM 시각화 생성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7365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In Practice  ·  경희대학교  ·  Team 우리팀  ·  2026.06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Chest X-ray Pneumonia Detection</dc:title>
  <dc:subject>PptxGenJS Presentation</dc:subject>
  <dc:creator>우리팀</dc:creator>
  <cp:lastModifiedBy>우리팀</cp:lastModifiedBy>
  <cp:revision>1</cp:revision>
  <dcterms:created xsi:type="dcterms:W3CDTF">2026-06-03T07:26:04Z</dcterms:created>
  <dcterms:modified xsi:type="dcterms:W3CDTF">2026-06-03T07:26:04Z</dcterms:modified>
</cp:coreProperties>
</file>